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46304" cy="411480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601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400" b="1">
                <a:solidFill>
                  <a:srgbClr val="0F172A"/>
                </a:solidFill>
                <a:latin typeface="Segoe UI"/>
              </a:defRPr>
            </a:pPr>
            <a:r>
              <a:t>TESTES DE VERIFICAÇÃO</a:t>
            </a:r>
          </a:p>
          <a:p>
            <a:pPr>
              <a:spcBef>
                <a:spcPts val="1200"/>
              </a:spcBef>
              <a:defRPr sz="2200">
                <a:solidFill>
                  <a:srgbClr val="64748B"/>
                </a:solidFill>
                <a:latin typeface="Segoe UI"/>
              </a:defRPr>
            </a:pPr>
            <a:r>
              <a:t>Checklist de Modelo de Negócios e Requisitos do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601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2ECC71"/>
                </a:solidFill>
                <a:latin typeface="Segoe UI"/>
              </a:defRPr>
            </a:pPr>
            <a:r>
              <a:t>SOFTWARE AVALIADO: DEOLHONOLIXO</a:t>
            </a:r>
          </a:p>
          <a:p>
            <a:pPr>
              <a:spcBef>
                <a:spcPts val="20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Testadores (QA): Alejjandro Martins, Dieglison Varejão, Joel Carlos, Lanna Silva, Peterson Kevyn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Orientadora: Profª Anacília Vieira | UFAM - Engenharia de Software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73152" cy="41148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DEOLHO NOLIXO: 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303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64748B"/>
                </a:solidFill>
                <a:latin typeface="Segoe UI"/>
              </a:defRPr>
            </a:pPr>
            <a:r>
              <a:t>Plataforma inteligente para denúncia e monitoramento de descartes irregulares em Itacoatiara.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2000">
                <a:latin typeface="Segoe UI"/>
              </a:defRPr>
            </a:pPr>
            <a:r>
              <a:t>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317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0F172A"/>
                </a:solidFill>
                <a:latin typeface="Segoe UI"/>
              </a:rPr>
              <a:t>GPS &amp; Câmera: </a:t>
            </a:r>
            <a:r>
              <a:rPr sz="1500" b="0">
                <a:solidFill>
                  <a:srgbClr val="64748B"/>
                </a:solidFill>
                <a:latin typeface="Segoe UI"/>
              </a:rPr>
              <a:t>Evidências georreferenciadas com fotos tiradas em tempo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2000">
                <a:latin typeface="Segoe UI"/>
              </a:defRPr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33756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0F172A"/>
                </a:solidFill>
                <a:latin typeface="Segoe UI"/>
              </a:rPr>
              <a:t>Inteligência Artificial: </a:t>
            </a:r>
            <a:r>
              <a:rPr sz="1500" b="0">
                <a:solidFill>
                  <a:srgbClr val="64748B"/>
                </a:solidFill>
                <a:latin typeface="Segoe UI"/>
              </a:rPr>
              <a:t>Classificação automática do tipo de resíduo e impacto ambiental.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097280"/>
            <a:ext cx="2194560" cy="4846320"/>
          </a:xfrm>
          <a:prstGeom prst="roundRect">
            <a:avLst>
              <a:gd name="adj" fmla="val 8000"/>
            </a:avLst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320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DeOlho:</a:t>
            </a:r>
            <a:br/>
            <a:r>
              <a:t>Sua comunidade</a:t>
            </a:r>
            <a:br/>
            <a:r>
              <a:t>limpa e segura.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097280"/>
            <a:ext cx="2194560" cy="4846320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20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Faça sua denúncia</a:t>
            </a:r>
            <a:br/>
            <a:r>
              <a:t>em poucos passos.</a:t>
            </a:r>
          </a:p>
        </p:txBody>
      </p:sp>
      <p:pic>
        <p:nvPicPr>
          <p:cNvPr id="12" name="Picture 11" descr="sp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80160"/>
            <a:ext cx="1920240" cy="3383280"/>
          </a:xfrm>
          <a:prstGeom prst="rect">
            <a:avLst/>
          </a:prstGeom>
        </p:spPr>
      </p:pic>
      <p:pic>
        <p:nvPicPr>
          <p:cNvPr id="13" name="Picture 12" descr="sp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194560"/>
            <a:ext cx="192024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73152" cy="41148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DESCRIÇÃO DO SOFTWARE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2000">
                <a:latin typeface="Segoe UI"/>
              </a:defRPr>
            </a:pPr>
            <a: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Monitoramento Colaborativo</a:t>
            </a:r>
          </a:p>
          <a:p>
            <a:pPr>
              <a:lnSpc>
                <a:spcPct val="120000"/>
              </a:lnSpc>
              <a:defRPr sz="1300">
                <a:solidFill>
                  <a:srgbClr val="64748B"/>
                </a:solidFill>
                <a:latin typeface="Segoe UI"/>
              </a:defRPr>
            </a:pPr>
            <a:r>
              <a:t>Aplicativo móvel que permite aos cidadãos registrar, georreferenciar e reportar pontos de descarte irregular de lixo e poluição em vias públicas, estabelecendo um canal de fiscalização cívica.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63440" y="1920240"/>
            <a:ext cx="640080" cy="640080"/>
          </a:xfrm>
          <a:prstGeom prst="ellipse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2000">
                <a:latin typeface="Segoe UI"/>
              </a:defRPr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74320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Validação e IA (Gemini)</a:t>
            </a:r>
          </a:p>
          <a:p>
            <a:pPr>
              <a:lnSpc>
                <a:spcPct val="120000"/>
              </a:lnSpc>
              <a:defRPr sz="1300">
                <a:solidFill>
                  <a:srgbClr val="64748B"/>
                </a:solidFill>
                <a:latin typeface="Segoe UI"/>
              </a:defRPr>
            </a:pPr>
            <a:r>
              <a:t>Integração de inteligência artificial via backend Python/FastAPI. O modelo multimodal Gemini analisa a foto, valida se de fato contém lixo, e gera uma descrição formal automatizada.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2000">
                <a:latin typeface="Segoe UI"/>
              </a:defRPr>
            </a:pPr>
            <a: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74320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Qualidade e Robustez</a:t>
            </a:r>
          </a:p>
          <a:p>
            <a:pPr>
              <a:lnSpc>
                <a:spcPct val="120000"/>
              </a:lnSpc>
              <a:defRPr sz="1300">
                <a:solidFill>
                  <a:srgbClr val="64748B"/>
                </a:solidFill>
                <a:latin typeface="Segoe UI"/>
              </a:defRPr>
            </a:pPr>
            <a:r>
              <a:t>Arquitetura React Native/Expo conectada em tempo real ao Firebase Firestore. Conta com travas síncronas contra duplo envio de posts e tratamentos robustos de falhas do cliente móvel.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73152" cy="41148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OBJETIVOS DO SOFTWARE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874520"/>
            <a:ext cx="548640" cy="548640"/>
          </a:xfrm>
          <a:prstGeom prst="ellipse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800">
                <a:latin typeface="Segoe UI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9164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Objetivo Geral: Cidadania e Mapeamento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Fomentar a participação ativa do cidadão na preservação ambiental por meio do mapeamento de poluição urbana, gerando dados cruciais para que órgãos públicos tomem decisões eficientes.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72865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3337560"/>
            <a:ext cx="548640" cy="548640"/>
          </a:xfrm>
          <a:prstGeom prst="ellipse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800">
                <a:latin typeface="Segoe UI"/>
              </a:defRPr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5468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Objetivo Técnico: Automação Inteligente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Simplificar o cadastro de ocorrências ao automatizar a redação de denúncias via IA e assegurar a qualidade do banco de dados através do descarte automático de imagens inválidas.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1072865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4800600"/>
            <a:ext cx="548640" cy="548640"/>
          </a:xfrm>
          <a:prstGeom prst="ellipse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800">
                <a:latin typeface="Segoe UI"/>
              </a:defRPr>
            </a:pPr>
            <a:r>
              <a:t>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61772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Objetivo Educacional: Prática Real de SQA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Demonstrar a aplicação real de normas de Qualidade de Software, integração de sistemas distribuídos e testes estáticos no contexto acadêmico de Engenharia de Software da UFAM.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73152" cy="41148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CONCEITOS: TESTES DE VERIFICAÇÃO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114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35661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500"/>
              </a:spcAft>
              <a:defRPr sz="2800" b="1" i="1">
                <a:solidFill>
                  <a:srgbClr val="FFFFFF"/>
                </a:solidFill>
                <a:latin typeface="Segoe UI"/>
              </a:defRPr>
            </a:pPr>
            <a:r>
              <a:t>"Estamos construindo o produto corretamente?"</a:t>
            </a:r>
          </a:p>
          <a:p>
            <a:pPr algn="ctr">
              <a:spcAft>
                <a:spcPts val="1500"/>
              </a:spcAft>
              <a:defRPr sz="1600" b="1">
                <a:solidFill>
                  <a:srgbClr val="2ECC71"/>
                </a:solidFill>
                <a:latin typeface="Segoe UI"/>
              </a:defRPr>
            </a:pPr>
            <a:r>
              <a:t>— Princípio da Verificação</a:t>
            </a:r>
            <a:br/>
            <a:r>
              <a:t>(Norma IEEE 1012)</a:t>
            </a:r>
          </a:p>
          <a:p>
            <a:pPr algn="ctr">
              <a:defRPr sz="1300">
                <a:solidFill>
                  <a:srgbClr val="64748B"/>
                </a:solidFill>
                <a:latin typeface="Segoe UI"/>
              </a:defRPr>
            </a:pPr>
            <a:r>
              <a:t>Foco na avaliação estática de artefatos.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63093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9240" y="1810512"/>
            <a:ext cx="58521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ECC71"/>
                </a:solidFill>
                <a:latin typeface="Segoe UI"/>
              </a:defRPr>
            </a:pPr>
            <a:r>
              <a:t>Testes Estáticos (Checklists)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Análise analítica de documentos e diagramas sem execução do código, guiada por checklists de qualidade padronizadas (Metodologia Bartié).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108960"/>
            <a:ext cx="63093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3273552"/>
            <a:ext cx="58521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ECC71"/>
                </a:solidFill>
                <a:latin typeface="Segoe UI"/>
              </a:defRPr>
            </a:pPr>
            <a:r>
              <a:t>Qualidade de Artefatos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Garante a rastreabilidade estrutural entre requisitos, casos de uso e modelos UML, prevenindo ambiguidades e incoerências.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4572000"/>
            <a:ext cx="63093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4736592"/>
            <a:ext cx="58521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ECC71"/>
                </a:solidFill>
                <a:latin typeface="Segoe UI"/>
              </a:defRPr>
            </a:pPr>
            <a:r>
              <a:t>Lei de Amplificação de Defeitos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Fundamento econômico do SQA: identificar e corrigir falhas nas fases iniciais de modelagem custa até 10x menos do que corrigi-las em produção.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73152" cy="41148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CONCLUSÃO: MODELO DE NEGÓCIOS</a:t>
            </a:r>
          </a:p>
        </p:txBody>
      </p:sp>
      <p:sp>
        <p:nvSpPr>
          <p:cNvPr id="5" name="Donut 4"/>
          <p:cNvSpPr/>
          <p:nvPr/>
        </p:nvSpPr>
        <p:spPr>
          <a:xfrm>
            <a:off x="1371600" y="2011680"/>
            <a:ext cx="2926080" cy="2926080"/>
          </a:xfrm>
          <a:prstGeom prst="donut">
            <a:avLst>
              <a:gd name="adj" fmla="val 8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1371600" y="2011680"/>
            <a:ext cx="2926080" cy="2926080"/>
          </a:xfrm>
          <a:prstGeom prst="blockArc">
            <a:avLst>
              <a:gd name="adj1" fmla="val -9000000"/>
              <a:gd name="adj2" fmla="val 31680000"/>
              <a:gd name="adj3" fmla="val 8000"/>
            </a:avLst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948025"/>
            <a:ext cx="2926080" cy="10241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  <a:latin typeface="Segoe UI"/>
              </a:defRPr>
            </a:pPr>
            <a:r>
              <a:t>88%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Aderência Estratégica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011680"/>
            <a:ext cx="6309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Aderência Estratégica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O modelo é altamente sustentável e resolve uma dor latente da prefeitura de Itacoatiara. O foco agora deve ser no engajamento da comunidade a longo prazo.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0F172A"/>
                </a:solidFill>
                <a:latin typeface="Segoe UI"/>
              </a:rPr>
              <a:t>• Rastreabilidade &amp; Necessidades: </a:t>
            </a:r>
            <a:r>
              <a:rPr sz="1500" b="0">
                <a:solidFill>
                  <a:srgbClr val="64748B"/>
                </a:solidFill>
                <a:latin typeface="Segoe UI"/>
              </a:rPr>
              <a:t>Omissão de vínculos claros entre características macro e as necessidades iniciais (3 itens 'Não' no checklist).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0F172A"/>
                </a:solidFill>
                <a:latin typeface="Segoe UI"/>
              </a:rPr>
              <a:t>• Análise de Riscos Omissa: </a:t>
            </a:r>
            <a:r>
              <a:rPr sz="1500" b="0">
                <a:solidFill>
                  <a:srgbClr val="64748B"/>
                </a:solidFill>
                <a:latin typeface="Segoe UI"/>
              </a:rPr>
              <a:t>Riscos foram mapeados, mas sem planos de contingência, probabilidade ou impacto (2 itens 'Não').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0F172A"/>
                </a:solidFill>
                <a:latin typeface="Segoe UI"/>
              </a:rPr>
              <a:t>• Melhoria Realizada: </a:t>
            </a:r>
            <a:r>
              <a:rPr sz="1500" b="0">
                <a:solidFill>
                  <a:srgbClr val="64748B"/>
                </a:solidFill>
                <a:latin typeface="Segoe UI"/>
              </a:rPr>
              <a:t>Unificação da Stack via criação de Registro de Decisão Arquitetural (ADR) elegendo o Firebase Firestore como fonte única de verdade.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73152" cy="41148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CONCLUSÃO: REQUISITOS DE SOFTWARE</a:t>
            </a:r>
          </a:p>
        </p:txBody>
      </p:sp>
      <p:sp>
        <p:nvSpPr>
          <p:cNvPr id="5" name="Donut 4"/>
          <p:cNvSpPr/>
          <p:nvPr/>
        </p:nvSpPr>
        <p:spPr>
          <a:xfrm>
            <a:off x="1371600" y="2011680"/>
            <a:ext cx="2926080" cy="2926080"/>
          </a:xfrm>
          <a:prstGeom prst="donut">
            <a:avLst>
              <a:gd name="adj" fmla="val 8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1371600" y="2011680"/>
            <a:ext cx="2926080" cy="2926080"/>
          </a:xfrm>
          <a:prstGeom prst="blockArc">
            <a:avLst>
              <a:gd name="adj1" fmla="val -9000000"/>
              <a:gd name="adj2" fmla="val 29988000"/>
              <a:gd name="adj3" fmla="val 8000"/>
            </a:avLst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948025"/>
            <a:ext cx="2926080" cy="10241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  <a:latin typeface="Segoe UI"/>
              </a:defRPr>
            </a:pPr>
            <a:r>
              <a:t>83%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Maturidade de Requisitos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011680"/>
            <a:ext cx="6309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Conformidade Funcional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Os Casos de Uso e requisitos funcionais básicos possuem alta aderência documental. No entanto, falhas no mapeamento de fluxos de exceção resultaram em erros críticos no MVP.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0F172A"/>
                </a:solidFill>
                <a:latin typeface="Segoe UI"/>
              </a:rPr>
              <a:t>• Omissão de Fluxos de Exceção: </a:t>
            </a:r>
            <a:r>
              <a:rPr sz="1500" b="0">
                <a:solidFill>
                  <a:srgbClr val="64748B"/>
                </a:solidFill>
                <a:latin typeface="Segoe UI"/>
              </a:rPr>
              <a:t>Inexistência de especificação de erro para imagens sem lixo ou campos nulos (comentários) gerou crashes e travamentos do backend.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0F172A"/>
                </a:solidFill>
                <a:latin typeface="Segoe UI"/>
              </a:rPr>
              <a:t>• Detalhamento Incompleto: </a:t>
            </a:r>
            <a:r>
              <a:rPr sz="1500" b="0">
                <a:solidFill>
                  <a:srgbClr val="64748B"/>
                </a:solidFill>
                <a:latin typeface="Segoe UI"/>
              </a:rPr>
              <a:t>Ausência de critérios mensuráveis e específicos para requisitos não funcionais (2 itens 'Não' no checklist).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0F172A"/>
                </a:solidFill>
                <a:latin typeface="Segoe UI"/>
              </a:rPr>
              <a:t>• Próximos Passos Propostos: </a:t>
            </a:r>
            <a:r>
              <a:rPr sz="1500" b="0">
                <a:solidFill>
                  <a:srgbClr val="64748B"/>
                </a:solidFill>
                <a:latin typeface="Segoe UI"/>
              </a:rPr>
              <a:t>Implementação de diagramas UML de estados para o ciclo de vida e definição de baselines controladas de especificação.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73152" cy="59436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Alinhamento entre a dor do mercado e a solução técnica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Objetivo: Evitar o scope creep (escopo flutuante) e garantir que o desenvolvimento parta de premissas seguras.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377440" cy="41148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920240"/>
            <a:ext cx="548640" cy="548640"/>
          </a:xfrm>
          <a:prstGeom prst="ellipse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0116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Unificação da Stack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Estabelecer o Firebase Firestore como fonte única de verdade em todos os artefatos; criar o ADR (Architecture Decision Record) documentando a migração/decisão.</a:t>
            </a:r>
          </a:p>
          <a:p>
            <a:pPr>
              <a:spcAft>
                <a:spcPts val="400"/>
              </a:spcAft>
              <a:defRPr sz="1100" b="1">
                <a:solidFill>
                  <a:srgbClr val="2ECC71"/>
                </a:solidFill>
                <a:latin typeface="Segoe UI"/>
              </a:defRPr>
            </a:pPr>
            <a:r>
              <a:t>STATUS: REALIZADA ✓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FOCO: CONSISTÊNCIA DE DADOS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3774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49040" y="1920240"/>
            <a:ext cx="548640" cy="54864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51760"/>
            <a:ext cx="20116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Estados do Sistema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Definir a máquina de estados formal (NOVO -&gt; EM_ANALISE -&gt; RESOLVIDO) e criar o respectivo diagrama de estados UML com eventos e condições de guarda.</a:t>
            </a:r>
          </a:p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  <a:latin typeface="Segoe UI"/>
              </a:defRPr>
            </a:pPr>
            <a:r>
              <a:t>STATUS: SUGERIDA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FOCO: PADRONIZAÇÃO DE FLUXOS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3774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1920240"/>
            <a:ext cx="548640" cy="54864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20116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Rastreabilidade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Criar matriz de rastreabilidade bidirecional associando as Necessidades do Cliente (RN) às Características do Software e aos Requisitos Funcionais (RF).</a:t>
            </a:r>
          </a:p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  <a:latin typeface="Segoe UI"/>
              </a:defRPr>
            </a:pPr>
            <a:r>
              <a:t>STATUS: SUGERIDA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FOCO: QUALIDADE &amp; COBERTURA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3774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35440" y="1920240"/>
            <a:ext cx="548640" cy="54864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651760"/>
            <a:ext cx="20116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Controle de Baseline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Implementar gerenciamento de configuração e checklists de qualidade (Unicidade, Atomicidade, Testabilidade, Consistência) antes da aprovação de mudanças.</a:t>
            </a:r>
          </a:p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  <a:latin typeface="Segoe UI"/>
              </a:defRPr>
            </a:pPr>
            <a:r>
              <a:t>STATUS: SUGERIDA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FOCO: GESTÃO DE MUDANÇAS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